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2" r:id="rId4"/>
    <p:sldId id="258" r:id="rId5"/>
    <p:sldId id="259" r:id="rId6"/>
    <p:sldId id="260" r:id="rId7"/>
    <p:sldId id="261" r:id="rId8"/>
    <p:sldId id="263" r:id="rId9"/>
    <p:sldId id="264" r:id="rId10"/>
    <p:sldId id="269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0"/>
    <p:restoredTop sz="94648"/>
  </p:normalViewPr>
  <p:slideViewPr>
    <p:cSldViewPr snapToGrid="0" snapToObjects="1">
      <p:cViewPr varScale="1">
        <p:scale>
          <a:sx n="117" d="100"/>
          <a:sy n="117" d="100"/>
        </p:scale>
        <p:origin x="488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Spend ($)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E83E3E"/>
              </a:solidFill>
            </c:spPr>
            <c:extLst>
              <c:ext xmlns:c16="http://schemas.microsoft.com/office/drawing/2014/chart" uri="{C3380CC4-5D6E-409C-BE32-E72D297353CC}">
                <c16:uniqueId val="{00000001-49A0-454F-88D6-82B92E109C21}"/>
              </c:ext>
            </c:extLst>
          </c:dPt>
          <c:dPt>
            <c:idx val="1"/>
            <c:invertIfNegative val="1"/>
            <c:bubble3D val="0"/>
            <c:spPr>
              <a:solidFill>
                <a:srgbClr val="009688"/>
              </a:solidFill>
            </c:spPr>
            <c:extLst>
              <c:ext xmlns:c16="http://schemas.microsoft.com/office/drawing/2014/chart" uri="{C3380CC4-5D6E-409C-BE32-E72D297353CC}">
                <c16:uniqueId val="{00000003-49A0-454F-88D6-82B92E109C21}"/>
              </c:ext>
            </c:extLst>
          </c:dPt>
          <c:dPt>
            <c:idx val="2"/>
            <c:invertIfNegative val="1"/>
            <c:bubble3D val="0"/>
            <c:spPr>
              <a:solidFill>
                <a:srgbClr val="2980B9"/>
              </a:solidFill>
            </c:spPr>
            <c:extLst>
              <c:ext xmlns:c16="http://schemas.microsoft.com/office/drawing/2014/chart" uri="{C3380CC4-5D6E-409C-BE32-E72D297353CC}">
                <c16:uniqueId val="{00000005-49A0-454F-88D6-82B92E109C21}"/>
              </c:ext>
            </c:extLst>
          </c:dPt>
          <c:dPt>
            <c:idx val="3"/>
            <c:invertIfNegative val="1"/>
            <c:bubble3D val="0"/>
            <c:spPr>
              <a:solidFill>
                <a:srgbClr val="8E44AD"/>
              </a:solidFill>
            </c:spPr>
            <c:extLst>
              <c:ext xmlns:c16="http://schemas.microsoft.com/office/drawing/2014/chart" uri="{C3380CC4-5D6E-409C-BE32-E72D297353CC}">
                <c16:uniqueId val="{00000007-49A0-454F-88D6-82B92E109C21}"/>
              </c:ext>
            </c:extLst>
          </c:dPt>
          <c:dPt>
            <c:idx val="4"/>
            <c:invertIfNegative val="1"/>
            <c:bubble3D val="0"/>
            <c:spPr>
              <a:solidFill>
                <a:srgbClr val="D35400"/>
              </a:solidFill>
            </c:spPr>
            <c:extLst>
              <c:ext xmlns:c16="http://schemas.microsoft.com/office/drawing/2014/chart" uri="{C3380CC4-5D6E-409C-BE32-E72D297353CC}">
                <c16:uniqueId val="{00000009-49A0-454F-88D6-82B92E109C21}"/>
              </c:ext>
            </c:extLst>
          </c:dPt>
          <c:dPt>
            <c:idx val="5"/>
            <c:invertIfNegative val="1"/>
            <c:bubble3D val="0"/>
            <c:spPr>
              <a:solidFill>
                <a:srgbClr val="27AE60"/>
              </a:solidFill>
            </c:spPr>
            <c:extLst>
              <c:ext xmlns:c16="http://schemas.microsoft.com/office/drawing/2014/chart" uri="{C3380CC4-5D6E-409C-BE32-E72D297353CC}">
                <c16:uniqueId val="{0000000B-49A0-454F-88D6-82B92E109C21}"/>
              </c:ext>
            </c:extLst>
          </c:dPt>
          <c:dPt>
            <c:idx val="6"/>
            <c:invertIfNegative val="1"/>
            <c:bubble3D val="0"/>
            <c:spPr>
              <a:solidFill>
                <a:srgbClr val="E67E22"/>
              </a:solidFill>
            </c:spPr>
            <c:extLst>
              <c:ext xmlns:c16="http://schemas.microsoft.com/office/drawing/2014/chart" uri="{C3380CC4-5D6E-409C-BE32-E72D297353CC}">
                <c16:uniqueId val="{0000000D-49A0-454F-88D6-82B92E109C21}"/>
              </c:ext>
            </c:extLst>
          </c:dPt>
          <c:dPt>
            <c:idx val="7"/>
            <c:invertIfNegative val="1"/>
            <c:bubble3D val="0"/>
            <c:spPr>
              <a:solidFill>
                <a:srgbClr val="2980B9"/>
              </a:solidFill>
            </c:spPr>
            <c:extLst>
              <c:ext xmlns:c16="http://schemas.microsoft.com/office/drawing/2014/chart" uri="{C3380CC4-5D6E-409C-BE32-E72D297353CC}">
                <c16:uniqueId val="{0000000F-49A0-454F-88D6-82B92E109C21}"/>
              </c:ext>
            </c:extLst>
          </c:dPt>
          <c:dPt>
            <c:idx val="8"/>
            <c:invertIfNegative val="1"/>
            <c:bubble3D val="0"/>
            <c:spPr>
              <a:solidFill>
                <a:srgbClr val="16A085"/>
              </a:solidFill>
            </c:spPr>
            <c:extLst>
              <c:ext xmlns:c16="http://schemas.microsoft.com/office/drawing/2014/chart" uri="{C3380CC4-5D6E-409C-BE32-E72D297353CC}">
                <c16:uniqueId val="{00000011-49A0-454F-88D6-82B92E109C21}"/>
              </c:ext>
            </c:extLst>
          </c:dPt>
          <c:dPt>
            <c:idx val="9"/>
            <c:invertIfNegative val="1"/>
            <c:bubble3D val="0"/>
            <c:spPr>
              <a:solidFill>
                <a:srgbClr val="7F8C8D"/>
              </a:solidFill>
            </c:spPr>
            <c:extLst>
              <c:ext xmlns:c16="http://schemas.microsoft.com/office/drawing/2014/chart" uri="{C3380CC4-5D6E-409C-BE32-E72D297353CC}">
                <c16:uniqueId val="{00000013-49A0-454F-88D6-82B92E109C21}"/>
              </c:ext>
            </c:extLst>
          </c:dPt>
          <c:dPt>
            <c:idx val="10"/>
            <c:invertIfNegative val="1"/>
            <c:bubble3D val="0"/>
            <c:spPr>
              <a:solidFill>
                <a:srgbClr val="BDC3C7"/>
              </a:solidFill>
            </c:spPr>
            <c:extLst>
              <c:ext xmlns:c16="http://schemas.microsoft.com/office/drawing/2014/chart" uri="{C3380CC4-5D6E-409C-BE32-E72D297353CC}">
                <c16:uniqueId val="{00000015-49A0-454F-88D6-82B92E109C21}"/>
              </c:ext>
            </c:extLst>
          </c:dPt>
          <c:cat>
            <c:strRef>
              <c:f>Sheet1!$A$2:$A$12</c:f>
              <c:strCache>
                <c:ptCount val="11"/>
                <c:pt idx="0">
                  <c:v>Untagged (NA)</c:v>
                </c:pt>
                <c:pt idx="1">
                  <c:v>Airflow DAGs</c:v>
                </c:pt>
                <c:pt idx="2">
                  <c:v>Other Named Tags</c:v>
                </c:pt>
                <c:pt idx="3">
                  <c:v>Replication</c:v>
                </c:pt>
                <c:pt idx="4">
                  <c:v>Segment</c:v>
                </c:pt>
                <c:pt idx="5">
                  <c:v>Experiment Metrics</c:v>
                </c:pt>
                <c:pt idx="6">
                  <c:v>Tableau (auto-LUID)</c:v>
                </c:pt>
                <c:pt idx="7">
                  <c:v>DynamoDB Sync</c:v>
                </c:pt>
                <c:pt idx="8">
                  <c:v>Custom JSON</c:v>
                </c:pt>
                <c:pt idx="9">
                  <c:v>Vertica Migration</c:v>
                </c:pt>
                <c:pt idx="10">
                  <c:v>dbt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1546621</c:v>
                </c:pt>
                <c:pt idx="1">
                  <c:v>693189</c:v>
                </c:pt>
                <c:pt idx="2">
                  <c:v>604329</c:v>
                </c:pt>
                <c:pt idx="3">
                  <c:v>359138</c:v>
                </c:pt>
                <c:pt idx="4">
                  <c:v>237083</c:v>
                </c:pt>
                <c:pt idx="5">
                  <c:v>212712</c:v>
                </c:pt>
                <c:pt idx="6">
                  <c:v>183697</c:v>
                </c:pt>
                <c:pt idx="7">
                  <c:v>178342</c:v>
                </c:pt>
                <c:pt idx="8">
                  <c:v>177553</c:v>
                </c:pt>
                <c:pt idx="9">
                  <c:v>120416</c:v>
                </c:pt>
                <c:pt idx="10">
                  <c:v>19230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6-49A0-454F-88D6-82B92E109C2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in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FFFFFF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>
          <c:spPr>
            <a:ln>
              <a:solidFill>
                <a:srgbClr val="334455"/>
              </a:solidFill>
            </a:ln>
          </c:spPr>
        </c:majorGridlines>
        <c:numFmt formatCode="\$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888888"/>
                </a:solidFill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mailto:rderangula@chewy.com" TargetMode="Externa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chewyinc.atlassian.net/wiki/spaces/DBS/pages/2415073606/Snowflake+Query+Tagging+Guidelines" TargetMode="Externa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00" y="2194560"/>
            <a:ext cx="1371600" cy="3810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Snowflake Query Tagging Standards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66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29B6F6"/>
                </a:solidFill>
                <a:latin typeface="Calibri"/>
              </a:defRPr>
            </a:pPr>
            <a:r>
              <a:t>Closing the $231K/Month Blind Spot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058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0B0"/>
                </a:solidFill>
                <a:latin typeface="Calibri"/>
              </a:defRPr>
            </a:pPr>
            <a:r>
              <a:rPr dirty="0"/>
              <a:t>Ravi Derangul</a:t>
            </a:r>
            <a:r>
              <a:rPr lang="en-US" dirty="0"/>
              <a:t>a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08080"/>
                </a:solidFill>
                <a:latin typeface="Calibri"/>
              </a:defRPr>
            </a:pPr>
            <a:r>
              <a:t>March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08080"/>
                </a:solidFill>
                <a:latin typeface="Calibri"/>
              </a:defRPr>
            </a:pPr>
            <a:r>
              <a:t>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Can You Answer These?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828800" cy="3810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>
                <a:solidFill>
                  <a:srgbClr val="29B6F6"/>
                </a:solidFill>
                <a:latin typeface="Calibri"/>
              </a:rPr>
              <a:t>?  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"Which Airflow DAG is costing us the most on ETL_WH?"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57400"/>
            <a:ext cx="10058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>
                <a:solidFill>
                  <a:srgbClr val="29B6F6"/>
                </a:solidFill>
                <a:latin typeface="Calibri"/>
              </a:rPr>
              <a:t>?  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"Why did </a:t>
            </a:r>
            <a:r>
              <a:rPr lang="en-US" sz="2400" b="0" dirty="0">
                <a:solidFill>
                  <a:srgbClr val="FFFFFF"/>
                </a:solidFill>
                <a:latin typeface="Calibri"/>
              </a:rPr>
              <a:t>DEV_WH 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spike 40% last week?"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834639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>
                <a:solidFill>
                  <a:srgbClr val="29B6F6"/>
                </a:solidFill>
                <a:latin typeface="Calibri"/>
              </a:rPr>
              <a:t>?  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"Which </a:t>
            </a:r>
            <a:r>
              <a:rPr sz="2400" b="0" dirty="0" err="1">
                <a:solidFill>
                  <a:srgbClr val="FFFFFF"/>
                </a:solidFill>
                <a:latin typeface="Calibri"/>
              </a:rPr>
              <a:t>dbt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 model should we optimize first?"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611879"/>
            <a:ext cx="10058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>
                <a:solidFill>
                  <a:srgbClr val="29B6F6"/>
                </a:solidFill>
                <a:latin typeface="Calibri"/>
              </a:rPr>
              <a:t>?  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"</a:t>
            </a:r>
            <a:r>
              <a:rPr lang="en-US" sz="2400" b="0" dirty="0">
                <a:solidFill>
                  <a:srgbClr val="FFFFFF"/>
                </a:solidFill>
                <a:latin typeface="Calibri"/>
              </a:rPr>
              <a:t>How much your </a:t>
            </a:r>
            <a:r>
              <a:rPr lang="en-US" sz="2400" dirty="0">
                <a:solidFill>
                  <a:srgbClr val="FFFFFF"/>
                </a:solidFill>
                <a:latin typeface="Calibri"/>
              </a:rPr>
              <a:t>Tableau workbook cost per 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month</a:t>
            </a:r>
            <a:r>
              <a:rPr lang="en-US" sz="2400" b="0" dirty="0">
                <a:solidFill>
                  <a:srgbClr val="FFFFFF"/>
                </a:solidFill>
                <a:latin typeface="Calibri"/>
              </a:rPr>
              <a:t> to run on Snowflake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?"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6800" y="4572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>
                <a:solidFill>
                  <a:srgbClr val="29B6F6"/>
                </a:solidFill>
                <a:latin typeface="Calibri"/>
              </a:rPr>
              <a:t>?  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"Can we attribute $618K/month to specific workloads?"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760720"/>
            <a:ext cx="10515600" cy="640080"/>
          </a:xfrm>
          <a:prstGeom prst="roundRect">
            <a:avLst/>
          </a:prstGeom>
          <a:solidFill>
            <a:srgbClr val="26263E"/>
          </a:solidFill>
          <a:ln w="12700">
            <a:solidFill>
              <a:srgbClr val="EF5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74643" y="5818702"/>
            <a:ext cx="105156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EF5350"/>
                </a:solidFill>
                <a:latin typeface="Calibri"/>
              </a:defRPr>
            </a:pPr>
            <a:r>
              <a:rPr dirty="0"/>
              <a:t>$1.55M in the last 6 months running </a:t>
            </a:r>
            <a:r>
              <a:rPr lang="en-US" dirty="0"/>
              <a:t>with no</a:t>
            </a:r>
            <a:r>
              <a:rPr dirty="0"/>
              <a:t> QUERY_TAG We know WHO ran these queries.  We do NOT know WHY.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08080"/>
                </a:solidFill>
                <a:latin typeface="Calibri"/>
              </a:defRPr>
            </a:pPr>
            <a:r>
              <a:t>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1">
                <a:solidFill>
                  <a:srgbClr val="FFFFFF"/>
                </a:solidFill>
                <a:latin typeface="Calibri"/>
              </a:defRPr>
            </a:pPr>
            <a:r>
              <a:rPr kumimoji="0" sz="36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Chewy's</a:t>
            </a:r>
            <a:r>
              <a:rPr kumimoji="0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Tagging Landscape Today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( Last 6 Months)</a:t>
            </a:r>
            <a:endParaRPr kumimoji="0" sz="3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>
                <a:solidFill>
                  <a:srgbClr val="BBBBBB"/>
                </a:solidFill>
                <a:latin typeface="Calibri"/>
              </a:defRPr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BBBBB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How our $4.33M in Snowflake spend breaks down by tag category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554480"/>
          <a:ext cx="6858000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772400" y="1554480"/>
            <a:ext cx="3931920" cy="1371600"/>
          </a:xfrm>
          <a:prstGeom prst="roundRect">
            <a:avLst>
              <a:gd name="adj" fmla="val 2000"/>
            </a:avLst>
          </a:prstGeom>
          <a:solidFill>
            <a:srgbClr val="6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1600" b="1">
                <a:solidFill>
                  <a:srgbClr val="E83E3E"/>
                </a:solidFill>
                <a:latin typeface="Calibri"/>
              </a:defRPr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E83E3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Red Bar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sz="1300" b="0">
                <a:solidFill>
                  <a:srgbClr val="FFFFFF"/>
                </a:solidFill>
                <a:latin typeface="Calibri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$1.55M running as QUERY_TAG = 'NA'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sz="1200" b="0">
                <a:solidFill>
                  <a:srgbClr val="BBBBBB"/>
                </a:solidFill>
                <a:latin typeface="Calibri"/>
              </a:defRPr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BBBBB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 know WHO ran these queries.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 sz="1200" b="1">
                <a:solidFill>
                  <a:srgbClr val="F39C12"/>
                </a:solidFill>
                <a:latin typeface="Calibri"/>
              </a:defRPr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39C1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 do NOT know WHY they ran.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3200400"/>
            <a:ext cx="3931920" cy="1371600"/>
          </a:xfrm>
          <a:prstGeom prst="roundRect">
            <a:avLst>
              <a:gd name="adj" fmla="val 2000"/>
            </a:avLst>
          </a:prstGeom>
          <a:solidFill>
            <a:srgbClr val="22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1600" b="1">
                <a:solidFill>
                  <a:srgbClr val="27AE60"/>
                </a:solidFill>
                <a:latin typeface="Calibri"/>
              </a:defRPr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7AE6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Defined Query</a:t>
            </a: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27AE6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Tags (Good)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sz="1300" b="0">
                <a:solidFill>
                  <a:srgbClr val="FFFFFF"/>
                </a:solidFill>
                <a:latin typeface="Calibri"/>
              </a:defRPr>
            </a:pPr>
            <a:r>
              <a:rPr kumimoji="0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Airflow, Segment, DynamoDB, </a:t>
            </a:r>
            <a:r>
              <a:rPr kumimoji="0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dbt</a:t>
            </a:r>
            <a:endParaRPr kumimoji="0" sz="13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772400" y="4846320"/>
            <a:ext cx="3931920" cy="1371600"/>
          </a:xfrm>
          <a:prstGeom prst="roundRect">
            <a:avLst>
              <a:gd name="adj" fmla="val 2000"/>
            </a:avLst>
          </a:prstGeom>
          <a:solidFill>
            <a:srgbClr val="22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1600" b="1">
                <a:solidFill>
                  <a:srgbClr val="F39C12"/>
                </a:solidFill>
                <a:latin typeface="Calibri"/>
              </a:defRPr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F39C1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Tableau Tags 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F39C12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1600" b="1">
                <a:solidFill>
                  <a:srgbClr val="F39C12"/>
                </a:solidFill>
                <a:latin typeface="Calibri"/>
              </a:defRPr>
            </a:pPr>
            <a:r>
              <a:rPr kumimoji="0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$184K tagged with UUID-based LUIDs.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 sz="1200" b="0">
                <a:solidFill>
                  <a:srgbClr val="BBBBBB"/>
                </a:solidFill>
                <a:latin typeface="Calibri"/>
              </a:defRPr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BBBBB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Solution: LUID-to-name resolution table.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Answer: QUERY_TAG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828800" cy="3810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9B6F6"/>
                </a:solidFill>
                <a:latin typeface="Calibri"/>
              </a:defRPr>
            </a:pPr>
            <a:r>
              <a:t>What is a Query Tag?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9B6F6"/>
                </a:solidFill>
                <a:latin typeface="Calibri"/>
              </a:rPr>
              <a:t>▸ </a:t>
            </a:r>
            <a:r>
              <a:rPr sz="1600">
                <a:solidFill>
                  <a:srgbClr val="FFFFFF"/>
                </a:solidFill>
                <a:latin typeface="Calibri"/>
              </a:rPr>
              <a:t>A session-level parameter attached to every query in Snowflake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9B6F6"/>
                </a:solidFill>
                <a:latin typeface="Calibri"/>
              </a:rPr>
              <a:t>▸ </a:t>
            </a:r>
            <a:r>
              <a:rPr sz="1600">
                <a:solidFill>
                  <a:srgbClr val="FFFFFF"/>
                </a:solidFill>
                <a:latin typeface="Calibri"/>
              </a:rPr>
              <a:t>Stored in QUERY_HISTORY alongside query text, user, warehouse, credits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9B6F6"/>
                </a:solidFill>
                <a:latin typeface="Calibri"/>
              </a:rPr>
              <a:t>▸ </a:t>
            </a:r>
            <a:r>
              <a:rPr sz="1600">
                <a:solidFill>
                  <a:srgbClr val="FFFFFF"/>
                </a:solidFill>
                <a:latin typeface="Calibri"/>
              </a:rPr>
              <a:t>A label that answers: WHO ran it, WHY it ran, and FROM WHERE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9B6F6"/>
                </a:solidFill>
                <a:latin typeface="Calibri"/>
              </a:rPr>
              <a:t>▸ </a:t>
            </a:r>
            <a:r>
              <a:rPr sz="1600">
                <a:solidFill>
                  <a:srgbClr val="FFFFFF"/>
                </a:solidFill>
                <a:latin typeface="Calibri"/>
              </a:rPr>
              <a:t>Set once per session -- every query in that session inherits the tag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383281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9B6F6"/>
                </a:solidFill>
                <a:latin typeface="Calibri"/>
              </a:defRPr>
            </a:pPr>
            <a:r>
              <a:rPr dirty="0"/>
              <a:t>How to set it  (one line of SQL):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114800"/>
            <a:ext cx="10515600" cy="640080"/>
          </a:xfrm>
          <a:prstGeom prst="roundRect">
            <a:avLst/>
          </a:prstGeom>
          <a:solidFill>
            <a:srgbClr val="1E1E30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200"/>
              </a:spcAft>
              <a:defRPr sz="1400">
                <a:solidFill>
                  <a:srgbClr val="66BB6A"/>
                </a:solidFill>
                <a:latin typeface="Consolas"/>
              </a:defRPr>
            </a:pPr>
            <a:r>
              <a:rPr lang="en-US" dirty="0"/>
              <a:t>ALTER SESSION SET QUERY_TAG = '{"app":"sandbox-etl","owner":"pricebot-team","filename":"mrch_price_15min.sql"}';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08080"/>
                </a:solidFill>
                <a:latin typeface="Calibri"/>
              </a:defRPr>
            </a:pPr>
            <a:r>
              <a:t>3/10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What Goes in a Tag?  And How to Use It.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828800" cy="3810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034142"/>
            <a:ext cx="8031481" cy="2118360"/>
          </a:xfrm>
          <a:prstGeom prst="roundRect">
            <a:avLst/>
          </a:prstGeom>
          <a:solidFill>
            <a:srgbClr val="1E1E30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399" y="975067"/>
            <a:ext cx="11277601" cy="2236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66BB6A"/>
                </a:solidFill>
                <a:latin typeface="Consolas"/>
              </a:defRPr>
            </a:pPr>
            <a:r>
              <a:rPr dirty="0"/>
              <a:t>{</a:t>
            </a:r>
          </a:p>
          <a:p>
            <a:pPr>
              <a:spcAft>
                <a:spcPts val="200"/>
              </a:spcAft>
              <a:defRPr sz="1400">
                <a:solidFill>
                  <a:srgbClr val="66BB6A"/>
                </a:solidFill>
                <a:latin typeface="Consolas"/>
              </a:defRPr>
            </a:pPr>
            <a:r>
              <a:rPr dirty="0"/>
              <a:t>  "app":         "</a:t>
            </a:r>
            <a:r>
              <a:rPr dirty="0" err="1"/>
              <a:t>dbt</a:t>
            </a:r>
            <a:r>
              <a:rPr dirty="0"/>
              <a:t> | airflow | tableau | python",</a:t>
            </a:r>
          </a:p>
          <a:p>
            <a:pPr>
              <a:spcAft>
                <a:spcPts val="200"/>
              </a:spcAft>
              <a:defRPr sz="1400">
                <a:solidFill>
                  <a:srgbClr val="66BB6A"/>
                </a:solidFill>
                <a:latin typeface="Consolas"/>
              </a:defRPr>
            </a:pPr>
            <a:r>
              <a:rPr dirty="0"/>
              <a:t>  "owner":       "</a:t>
            </a:r>
            <a:r>
              <a:rPr dirty="0" err="1"/>
              <a:t>team-DL@chewy.com</a:t>
            </a:r>
            <a:r>
              <a:rPr dirty="0"/>
              <a:t>",</a:t>
            </a:r>
          </a:p>
          <a:p>
            <a:pPr>
              <a:spcAft>
                <a:spcPts val="200"/>
              </a:spcAft>
              <a:defRPr sz="1400">
                <a:solidFill>
                  <a:srgbClr val="66BB6A"/>
                </a:solidFill>
                <a:latin typeface="Consolas"/>
              </a:defRPr>
            </a:pPr>
            <a:r>
              <a:rPr dirty="0"/>
              <a:t>  "</a:t>
            </a:r>
            <a:r>
              <a:rPr dirty="0" err="1"/>
              <a:t>app_name</a:t>
            </a:r>
            <a:r>
              <a:rPr dirty="0"/>
              <a:t>":    "project or application name",</a:t>
            </a:r>
          </a:p>
          <a:p>
            <a:pPr>
              <a:spcAft>
                <a:spcPts val="200"/>
              </a:spcAft>
              <a:defRPr sz="1400">
                <a:solidFill>
                  <a:srgbClr val="66BB6A"/>
                </a:solidFill>
                <a:latin typeface="Consolas"/>
              </a:defRPr>
            </a:pPr>
            <a:r>
              <a:rPr dirty="0"/>
              <a:t>  "workflow":    "</a:t>
            </a:r>
            <a:r>
              <a:rPr dirty="0" err="1"/>
              <a:t>dag</a:t>
            </a:r>
            <a:r>
              <a:rPr dirty="0"/>
              <a:t> / model / workbook name",</a:t>
            </a:r>
          </a:p>
          <a:p>
            <a:pPr>
              <a:spcAft>
                <a:spcPts val="200"/>
              </a:spcAft>
              <a:defRPr sz="1400">
                <a:solidFill>
                  <a:srgbClr val="66BB6A"/>
                </a:solidFill>
                <a:latin typeface="Consolas"/>
              </a:defRPr>
            </a:pPr>
            <a:r>
              <a:rPr dirty="0"/>
              <a:t>  "node":        "task or step within workflow",</a:t>
            </a:r>
          </a:p>
          <a:p>
            <a:pPr>
              <a:spcAft>
                <a:spcPts val="200"/>
              </a:spcAft>
              <a:defRPr sz="1400">
                <a:solidFill>
                  <a:srgbClr val="66BB6A"/>
                </a:solidFill>
                <a:latin typeface="Consolas"/>
              </a:defRPr>
            </a:pPr>
            <a:r>
              <a:rPr dirty="0"/>
              <a:t>  "filename":    "source SQL file",</a:t>
            </a:r>
          </a:p>
          <a:p>
            <a:pPr>
              <a:spcAft>
                <a:spcPts val="200"/>
              </a:spcAft>
              <a:defRPr sz="1400">
                <a:solidFill>
                  <a:srgbClr val="66BB6A"/>
                </a:solidFill>
                <a:latin typeface="Consolas"/>
              </a:defRPr>
            </a:pPr>
            <a:r>
              <a:rPr dirty="0"/>
              <a:t>  "environment": "prod | dev | ci"</a:t>
            </a:r>
            <a:r>
              <a:rPr lang="en-US" dirty="0"/>
              <a:t> </a:t>
            </a:r>
          </a:p>
          <a:p>
            <a:pPr>
              <a:spcAft>
                <a:spcPts val="200"/>
              </a:spcAft>
              <a:defRPr sz="1400">
                <a:solidFill>
                  <a:srgbClr val="66BB6A"/>
                </a:solidFill>
                <a:latin typeface="Consolas"/>
              </a:defRPr>
            </a:pPr>
            <a:r>
              <a:rPr lang="en-US" dirty="0"/>
              <a:t>}</a:t>
            </a:r>
            <a:endParaRPr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70886"/>
              </p:ext>
            </p:extLst>
          </p:nvPr>
        </p:nvGraphicFramePr>
        <p:xfrm>
          <a:off x="914399" y="3968496"/>
          <a:ext cx="5029200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Field</a:t>
                      </a:r>
                    </a:p>
                  </a:txBody>
                  <a:tcPr>
                    <a:solidFill>
                      <a:srgbClr val="29B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Required?</a:t>
                      </a:r>
                    </a:p>
                  </a:txBody>
                  <a:tcPr>
                    <a:solidFill>
                      <a:srgbClr val="29B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29B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app</a:t>
                      </a:r>
                    </a:p>
                  </a:txBody>
                  <a:tcPr>
                    <a:solidFill>
                      <a:srgbClr val="2626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MANDATORY</a:t>
                      </a:r>
                    </a:p>
                  </a:txBody>
                  <a:tcPr>
                    <a:solidFill>
                      <a:srgbClr val="2626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dirty="0"/>
                        <a:t>Tool (</a:t>
                      </a:r>
                      <a:r>
                        <a:rPr dirty="0" err="1"/>
                        <a:t>dbt</a:t>
                      </a:r>
                      <a:r>
                        <a:rPr dirty="0"/>
                        <a:t>, airflow, </a:t>
                      </a:r>
                      <a:r>
                        <a:rPr dirty="0" err="1"/>
                        <a:t>knime</a:t>
                      </a:r>
                      <a:r>
                        <a:rPr dirty="0"/>
                        <a:t>...)</a:t>
                      </a:r>
                    </a:p>
                  </a:txBody>
                  <a:tcPr>
                    <a:solidFill>
                      <a:srgbClr val="26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owner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MANDATORY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Team email / DL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app_name</a:t>
                      </a:r>
                    </a:p>
                  </a:txBody>
                  <a:tcPr>
                    <a:solidFill>
                      <a:srgbClr val="2626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MANDATORY</a:t>
                      </a:r>
                    </a:p>
                  </a:txBody>
                  <a:tcPr>
                    <a:solidFill>
                      <a:srgbClr val="2626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Project or app name</a:t>
                      </a:r>
                    </a:p>
                  </a:txBody>
                  <a:tcPr>
                    <a:solidFill>
                      <a:srgbClr val="26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workflow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RECOMMENDED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DAG, model, or workbook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filename</a:t>
                      </a:r>
                    </a:p>
                  </a:txBody>
                  <a:tcPr>
                    <a:solidFill>
                      <a:srgbClr val="2626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RECOMMENDED</a:t>
                      </a:r>
                    </a:p>
                  </a:txBody>
                  <a:tcPr>
                    <a:solidFill>
                      <a:srgbClr val="2626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Source SQL file</a:t>
                      </a:r>
                    </a:p>
                  </a:txBody>
                  <a:tcPr>
                    <a:solidFill>
                      <a:srgbClr val="26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environment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RECOMMENDED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dirty="0"/>
                        <a:t>prod / dev / ci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08080"/>
                </a:solidFill>
                <a:latin typeface="Calibri"/>
              </a:defRPr>
            </a:pPr>
            <a:r>
              <a:t>4/10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7A028DB-7D5F-DBB4-C62E-E525D67C4968}"/>
              </a:ext>
            </a:extLst>
          </p:cNvPr>
          <p:cNvSpPr txBox="1"/>
          <p:nvPr/>
        </p:nvSpPr>
        <p:spPr>
          <a:xfrm>
            <a:off x="914399" y="322275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9B6F6"/>
                </a:solidFill>
                <a:latin typeface="Calibri"/>
              </a:defRPr>
            </a:pPr>
            <a:r>
              <a:rPr lang="en-US" dirty="0"/>
              <a:t>The Standard: JSON format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rPr dirty="0"/>
              <a:t>What We See Today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828800" cy="3810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6BB6A"/>
                </a:solidFill>
                <a:latin typeface="Calibri"/>
              </a:defRPr>
            </a:pPr>
            <a:r>
              <a:rPr dirty="0"/>
              <a:t>What we CAN attribute: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103120" cy="1097280"/>
          </a:xfrm>
          <a:prstGeom prst="roundRect">
            <a:avLst/>
          </a:prstGeom>
          <a:solidFill>
            <a:srgbClr val="26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29B6F6"/>
                </a:solidFill>
                <a:latin typeface="Calibri"/>
              </a:defRPr>
            </a:pPr>
            <a:r>
              <a:t>$618K/mo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1703" y="1431146"/>
            <a:ext cx="21031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0B0"/>
                </a:solidFill>
                <a:latin typeface="Calibri"/>
              </a:defRPr>
            </a:pPr>
            <a:r>
              <a:rPr lang="en-US" dirty="0"/>
              <a:t>Total </a:t>
            </a:r>
            <a:r>
              <a:rPr dirty="0"/>
              <a:t> Snowflake spend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9748" y="997781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5350"/>
                </a:solidFill>
                <a:latin typeface="Calibri"/>
              </a:defRPr>
            </a:pPr>
            <a:r>
              <a:t>What we CAN'T attribute: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60520" y="1508321"/>
            <a:ext cx="3200400" cy="1097280"/>
          </a:xfrm>
          <a:prstGeom prst="roundRect">
            <a:avLst/>
          </a:prstGeom>
          <a:solidFill>
            <a:srgbClr val="26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997234" y="1363217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EF5350"/>
                </a:solidFill>
                <a:latin typeface="Calibri"/>
              </a:defRPr>
            </a:pPr>
            <a:r>
              <a:rPr dirty="0"/>
              <a:t>$231K/</a:t>
            </a:r>
            <a:r>
              <a:rPr dirty="0" err="1"/>
              <a:t>mo</a:t>
            </a:r>
            <a:endParaRPr dirty="0"/>
          </a:p>
        </p:txBody>
      </p:sp>
      <p:sp>
        <p:nvSpPr>
          <p:cNvPr id="17" name="TextBox 16"/>
          <p:cNvSpPr txBox="1"/>
          <p:nvPr/>
        </p:nvSpPr>
        <p:spPr>
          <a:xfrm>
            <a:off x="5924006" y="16078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0B0"/>
                </a:solidFill>
                <a:latin typeface="Calibri"/>
              </a:defRPr>
            </a:pPr>
            <a:r>
              <a:rPr dirty="0"/>
              <a:t>37.4% completely blind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67350" y="52201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0B0"/>
                </a:solidFill>
                <a:latin typeface="Calibri"/>
              </a:defRPr>
            </a:pPr>
            <a:r>
              <a:rPr dirty="0"/>
              <a:t>How queries are tagged across the entire account (last 30 days):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2459412"/>
              </p:ext>
            </p:extLst>
          </p:nvPr>
        </p:nvGraphicFramePr>
        <p:xfrm>
          <a:off x="731520" y="2337163"/>
          <a:ext cx="8965472" cy="4248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5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8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72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84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72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584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5400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Tag Quality</a:t>
                      </a:r>
                    </a:p>
                  </a:txBody>
                  <a:tcPr>
                    <a:solidFill>
                      <a:srgbClr val="29B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$/Month</a:t>
                      </a:r>
                    </a:p>
                  </a:txBody>
                  <a:tcPr>
                    <a:solidFill>
                      <a:srgbClr val="29B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% Spend</a:t>
                      </a:r>
                    </a:p>
                  </a:txBody>
                  <a:tcPr>
                    <a:solidFill>
                      <a:srgbClr val="29B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Warehouses</a:t>
                      </a:r>
                    </a:p>
                  </a:txBody>
                  <a:tcPr>
                    <a:solidFill>
                      <a:srgbClr val="29B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Users</a:t>
                      </a:r>
                    </a:p>
                  </a:txBody>
                  <a:tcPr>
                    <a:solidFill>
                      <a:srgbClr val="29B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Parseable?</a:t>
                      </a:r>
                    </a:p>
                  </a:txBody>
                  <a:tcPr>
                    <a:solidFill>
                      <a:srgbClr val="29B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00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UNTAGGED</a:t>
                      </a:r>
                    </a:p>
                  </a:txBody>
                  <a:tcPr>
                    <a:solidFill>
                      <a:srgbClr val="2626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$231,308</a:t>
                      </a:r>
                    </a:p>
                  </a:txBody>
                  <a:tcPr>
                    <a:solidFill>
                      <a:srgbClr val="2626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37.4%</a:t>
                      </a:r>
                    </a:p>
                  </a:txBody>
                  <a:tcPr>
                    <a:solidFill>
                      <a:srgbClr val="2626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116</a:t>
                      </a:r>
                    </a:p>
                  </a:txBody>
                  <a:tcPr>
                    <a:solidFill>
                      <a:srgbClr val="2626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1,695</a:t>
                      </a:r>
                    </a:p>
                  </a:txBody>
                  <a:tcPr>
                    <a:solidFill>
                      <a:srgbClr val="2626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26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00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Freeform Strings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$107,838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17.5%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64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95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00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Airflow DAG (structured)</a:t>
                      </a:r>
                    </a:p>
                  </a:txBody>
                  <a:tcPr>
                    <a:solidFill>
                      <a:srgbClr val="2626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$86,420</a:t>
                      </a:r>
                    </a:p>
                  </a:txBody>
                  <a:tcPr>
                    <a:solidFill>
                      <a:srgbClr val="2626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14.0%</a:t>
                      </a:r>
                    </a:p>
                  </a:txBody>
                  <a:tcPr>
                    <a:solidFill>
                      <a:srgbClr val="2626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2626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2626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26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400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Replication (auto)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$48,665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7.9%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400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Segment (auto)</a:t>
                      </a:r>
                    </a:p>
                  </a:txBody>
                  <a:tcPr>
                    <a:solidFill>
                      <a:srgbClr val="2626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$31,837</a:t>
                      </a:r>
                    </a:p>
                  </a:txBody>
                  <a:tcPr>
                    <a:solidFill>
                      <a:srgbClr val="2626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5.2%</a:t>
                      </a:r>
                    </a:p>
                  </a:txBody>
                  <a:tcPr>
                    <a:solidFill>
                      <a:srgbClr val="2626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2626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2626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26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400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ETL (structured JSON)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$31,235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5.1%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36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48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400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DynamoDB Sync (auto)</a:t>
                      </a:r>
                    </a:p>
                  </a:txBody>
                  <a:tcPr>
                    <a:solidFill>
                      <a:srgbClr val="2626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$25,981</a:t>
                      </a:r>
                    </a:p>
                  </a:txBody>
                  <a:tcPr>
                    <a:solidFill>
                      <a:srgbClr val="2626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4.2%</a:t>
                      </a:r>
                    </a:p>
                  </a:txBody>
                  <a:tcPr>
                    <a:solidFill>
                      <a:srgbClr val="2626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2626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2626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26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400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Tableau (site-level)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$21,996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3.6%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64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231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PARTIAL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400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Tableau (with workbook)</a:t>
                      </a:r>
                    </a:p>
                  </a:txBody>
                  <a:tcPr>
                    <a:solidFill>
                      <a:srgbClr val="2626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$7,177</a:t>
                      </a:r>
                    </a:p>
                  </a:txBody>
                  <a:tcPr>
                    <a:solidFill>
                      <a:srgbClr val="2626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1.2%</a:t>
                      </a:r>
                    </a:p>
                  </a:txBody>
                  <a:tcPr>
                    <a:solidFill>
                      <a:srgbClr val="2626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45</a:t>
                      </a:r>
                    </a:p>
                  </a:txBody>
                  <a:tcPr>
                    <a:solidFill>
                      <a:srgbClr val="2626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127</a:t>
                      </a:r>
                    </a:p>
                  </a:txBody>
                  <a:tcPr>
                    <a:solidFill>
                      <a:srgbClr val="2626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26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400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dbt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$5,629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0.9%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PARTIAL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400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dirty="0" err="1"/>
                        <a:t>Streamlit</a:t>
                      </a:r>
                      <a:r>
                        <a:rPr dirty="0"/>
                        <a:t> (auto)</a:t>
                      </a:r>
                    </a:p>
                  </a:txBody>
                  <a:tcPr>
                    <a:solidFill>
                      <a:srgbClr val="2626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$3,719</a:t>
                      </a:r>
                    </a:p>
                  </a:txBody>
                  <a:tcPr>
                    <a:solidFill>
                      <a:srgbClr val="2626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0.6%</a:t>
                      </a:r>
                    </a:p>
                  </a:txBody>
                  <a:tcPr>
                    <a:solidFill>
                      <a:srgbClr val="2626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dirty="0"/>
                        <a:t>33</a:t>
                      </a:r>
                    </a:p>
                  </a:txBody>
                  <a:tcPr>
                    <a:solidFill>
                      <a:srgbClr val="2626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391</a:t>
                      </a:r>
                    </a:p>
                  </a:txBody>
                  <a:tcPr>
                    <a:solidFill>
                      <a:srgbClr val="2626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dirty="0"/>
                        <a:t>YES</a:t>
                      </a:r>
                    </a:p>
                  </a:txBody>
                  <a:tcPr>
                    <a:solidFill>
                      <a:srgbClr val="26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08080"/>
                </a:solidFill>
                <a:latin typeface="Calibri"/>
              </a:defRPr>
            </a:pPr>
            <a:r>
              <a:t>5/10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Who Is Causing It?  Humans vs Service Accounts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828800" cy="38100"/>
          </a:xfrm>
          <a:prstGeom prst="rect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5303520" cy="2286000"/>
          </a:xfrm>
          <a:prstGeom prst="roundRect">
            <a:avLst/>
          </a:prstGeom>
          <a:solidFill>
            <a:srgbClr val="26263E"/>
          </a:solidFill>
          <a:ln w="12700">
            <a:solidFill>
              <a:srgbClr val="EF5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5350"/>
                </a:solidFill>
                <a:latin typeface="Calibri"/>
              </a:defRPr>
            </a:pPr>
            <a:r>
              <a:t>Service Accounts  (the bigger $ problem)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737360"/>
            <a:ext cx="2286000" cy="1005840"/>
          </a:xfrm>
          <a:prstGeom prst="roundRect">
            <a:avLst/>
          </a:prstGeom>
          <a:solidFill>
            <a:srgbClr val="26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745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EF5350"/>
                </a:solidFill>
                <a:latin typeface="Calibri"/>
              </a:defRPr>
            </a:pPr>
            <a:r>
              <a:t>$142K/mo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0B0"/>
                </a:solidFill>
                <a:latin typeface="Calibri"/>
              </a:defRPr>
            </a:pPr>
            <a:r>
              <a:t>untagged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737360"/>
            <a:ext cx="2286000" cy="1005840"/>
          </a:xfrm>
          <a:prstGeom prst="roundRect">
            <a:avLst/>
          </a:prstGeom>
          <a:solidFill>
            <a:srgbClr val="26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83280" y="18745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A726"/>
                </a:solidFill>
                <a:latin typeface="Calibri"/>
              </a:defRPr>
            </a:pPr>
            <a:r>
              <a:t>188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468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0B0"/>
                </a:solidFill>
                <a:latin typeface="Calibri"/>
              </a:defRPr>
            </a:pPr>
            <a:r>
              <a:t>service accounts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260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B0"/>
                </a:solidFill>
                <a:latin typeface="Calibri"/>
              </a:defRPr>
            </a:pPr>
            <a:r>
              <a:t>30.3% of their $468K total spend is untagged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188720"/>
            <a:ext cx="5029200" cy="2286000"/>
          </a:xfrm>
          <a:prstGeom prst="roundRect">
            <a:avLst/>
          </a:prstGeom>
          <a:solidFill>
            <a:srgbClr val="26263E"/>
          </a:solidFill>
          <a:ln w="12700">
            <a:solidFill>
              <a:srgbClr val="FFA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80" y="12801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A726"/>
                </a:solidFill>
                <a:latin typeface="Calibri"/>
              </a:defRPr>
            </a:pPr>
            <a:r>
              <a:t>Human / Interactive  (the bigger % problem)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1737360"/>
            <a:ext cx="2103120" cy="1005840"/>
          </a:xfrm>
          <a:prstGeom prst="roundRect">
            <a:avLst/>
          </a:prstGeom>
          <a:solidFill>
            <a:srgbClr val="26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0" y="18745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A726"/>
                </a:solidFill>
                <a:latin typeface="Calibri"/>
              </a:defRPr>
            </a:pPr>
            <a:r>
              <a:t>$89K/mo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4688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0B0"/>
                </a:solidFill>
                <a:latin typeface="Calibri"/>
              </a:defRPr>
            </a:pPr>
            <a:r>
              <a:t>untagged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69680" y="1737360"/>
            <a:ext cx="2103120" cy="1005840"/>
          </a:xfrm>
          <a:prstGeom prst="roundRect">
            <a:avLst/>
          </a:prstGeom>
          <a:solidFill>
            <a:srgbClr val="26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69680" y="18745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A726"/>
                </a:solidFill>
                <a:latin typeface="Calibri"/>
              </a:defRPr>
            </a:pPr>
            <a:r>
              <a:t>1,507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24688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0B0"/>
                </a:solidFill>
                <a:latin typeface="Calibri"/>
              </a:defRPr>
            </a:pPr>
            <a:r>
              <a:t>users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9260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B0"/>
                </a:solidFill>
                <a:latin typeface="Calibri"/>
              </a:defRPr>
            </a:pPr>
            <a:r>
              <a:t>59.5% of their $150K total spend is untagged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2448919"/>
              </p:ext>
            </p:extLst>
          </p:nvPr>
        </p:nvGraphicFramePr>
        <p:xfrm>
          <a:off x="640080" y="3566160"/>
          <a:ext cx="5486400" cy="3127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lang="en-US"/>
                        <a:t>Service Account</a:t>
                      </a:r>
                    </a:p>
                  </a:txBody>
                  <a:tcPr>
                    <a:solidFill>
                      <a:srgbClr val="EF53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Warehouse</a:t>
                      </a:r>
                    </a:p>
                  </a:txBody>
                  <a:tcPr>
                    <a:solidFill>
                      <a:srgbClr val="EF53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Untagged $/mo</a:t>
                      </a:r>
                    </a:p>
                  </a:txBody>
                  <a:tcPr>
                    <a:solidFill>
                      <a:srgbClr val="EF53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lang="en-US"/>
                        <a:t>SVC_AUDIENCE_SEGMENTATION_PRD</a:t>
                      </a:r>
                    </a:p>
                  </a:txBody>
                  <a:tcPr>
                    <a:solidFill>
                      <a:srgbClr val="2626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AUDIENCE_SEG_WH</a:t>
                      </a:r>
                    </a:p>
                  </a:txBody>
                  <a:tcPr>
                    <a:solidFill>
                      <a:srgbClr val="2626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$8,860</a:t>
                      </a:r>
                    </a:p>
                  </a:txBody>
                  <a:tcPr>
                    <a:solidFill>
                      <a:srgbClr val="26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lang="en-US"/>
                        <a:t>SVC_HEALTHCARE_ANALYTICS_AIRFLOW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HEALTHCARE_XL_WH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$8,091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lang="en-US"/>
                        <a:t>SVC_AUDIENCE_SEGMENTATION_PRD</a:t>
                      </a:r>
                    </a:p>
                  </a:txBody>
                  <a:tcPr>
                    <a:solidFill>
                      <a:srgbClr val="2626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AUDIENCE_SEG_XL_WH</a:t>
                      </a:r>
                    </a:p>
                  </a:txBody>
                  <a:tcPr>
                    <a:solidFill>
                      <a:srgbClr val="2626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$7,695</a:t>
                      </a:r>
                    </a:p>
                  </a:txBody>
                  <a:tcPr>
                    <a:solidFill>
                      <a:srgbClr val="26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lang="en-US"/>
                        <a:t>SVC_HEALTHCARE_ANALYTICS_AIRFLOW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HEALTHCARE_WH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$7,659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lang="en-US"/>
                        <a:t>SVC_MKT_SPONSORED_ADS_AIRFLOW</a:t>
                      </a:r>
                    </a:p>
                  </a:txBody>
                  <a:tcPr>
                    <a:solidFill>
                      <a:srgbClr val="2626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MKT_SPON_ADS_WH</a:t>
                      </a:r>
                    </a:p>
                  </a:txBody>
                  <a:tcPr>
                    <a:solidFill>
                      <a:srgbClr val="2626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$7,252</a:t>
                      </a:r>
                    </a:p>
                  </a:txBody>
                  <a:tcPr>
                    <a:solidFill>
                      <a:srgbClr val="26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lang="en-US"/>
                        <a:t>SVC_WORKER_CAPE_PRD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ECOM_WH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$5,896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lang="en-US"/>
                        <a:t>SVC_DISCOVERY_PRD</a:t>
                      </a:r>
                    </a:p>
                  </a:txBody>
                  <a:tcPr>
                    <a:solidFill>
                      <a:srgbClr val="2626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DISCOVERY_WH</a:t>
                      </a:r>
                    </a:p>
                  </a:txBody>
                  <a:tcPr>
                    <a:solidFill>
                      <a:srgbClr val="2626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$5,707</a:t>
                      </a:r>
                    </a:p>
                  </a:txBody>
                  <a:tcPr>
                    <a:solidFill>
                      <a:srgbClr val="26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SVC_ETL_CLOVER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ETL_WH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dirty="0"/>
                        <a:t>$5,638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08080"/>
                </a:solidFill>
                <a:latin typeface="Calibri"/>
              </a:defRPr>
            </a:pPr>
            <a:r>
              <a:t>6/10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What Good Looks Like: Examples From Our Own 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828800" cy="3810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6BB6A"/>
                </a:solidFill>
                <a:latin typeface="Calibri"/>
              </a:defRPr>
            </a:pPr>
            <a:r>
              <a:t>Replication  (0% untagged, auto-tagged)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029200" cy="1005840"/>
          </a:xfrm>
          <a:prstGeom prst="roundRect">
            <a:avLst/>
          </a:prstGeom>
          <a:solidFill>
            <a:srgbClr val="1E1E30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66BB6A"/>
                </a:solidFill>
                <a:latin typeface="Consolas"/>
              </a:defRPr>
            </a:pPr>
            <a:r>
              <a:t>prepl: payments                    $1,896/mo</a:t>
            </a:r>
          </a:p>
          <a:p>
            <a:pPr>
              <a:spcAft>
                <a:spcPts val="200"/>
              </a:spcAft>
              <a:defRPr sz="1200">
                <a:solidFill>
                  <a:srgbClr val="66BB6A"/>
                </a:solidFill>
                <a:latin typeface="Consolas"/>
              </a:defRPr>
            </a:pPr>
            <a:r>
              <a:t>prepl: manhattan                   $1,891/mo</a:t>
            </a:r>
          </a:p>
          <a:p>
            <a:pPr>
              <a:spcAft>
                <a:spcPts val="200"/>
              </a:spcAft>
              <a:defRPr sz="1200">
                <a:solidFill>
                  <a:srgbClr val="66BB6A"/>
                </a:solidFill>
                <a:latin typeface="Consolas"/>
              </a:defRPr>
            </a:pPr>
            <a:r>
              <a:t>dynamo_replication: polaris.CONTACT $1,115/mo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0972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6BB6A"/>
                </a:solidFill>
                <a:latin typeface="Calibri"/>
              </a:defRPr>
            </a:pPr>
            <a:r>
              <a:t>MRCH_WH dbt  (model-level attribution)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1005840"/>
          </a:xfrm>
          <a:prstGeom prst="roundRect">
            <a:avLst/>
          </a:prstGeom>
          <a:solidFill>
            <a:srgbClr val="1E1E30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66BB6A"/>
                </a:solidFill>
                <a:latin typeface="Consolas"/>
              </a:defRPr>
            </a:pPr>
            <a:r>
              <a:t>Merch DBT: int_vds_vcobt_day_agg   $4.16/mo</a:t>
            </a:r>
          </a:p>
          <a:p>
            <a:pPr>
              <a:spcAft>
                <a:spcPts val="200"/>
              </a:spcAft>
              <a:defRPr sz="1200">
                <a:solidFill>
                  <a:srgbClr val="66BB6A"/>
                </a:solidFill>
                <a:latin typeface="Consolas"/>
              </a:defRPr>
            </a:pPr>
            <a:r>
              <a:t>Merch DBT: int_vds_vfl2_ko          $3.77/mo</a:t>
            </a:r>
          </a:p>
          <a:p>
            <a:pPr>
              <a:spcAft>
                <a:spcPts val="200"/>
              </a:spcAft>
              <a:defRPr sz="1200">
                <a:solidFill>
                  <a:srgbClr val="66BB6A"/>
                </a:solidFill>
                <a:latin typeface="Consolas"/>
              </a:defRPr>
            </a:pPr>
            <a:r>
              <a:t>Merch DBT: agg_vds_inventory_snap   $2.72/mo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43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6BB6A"/>
                </a:solidFill>
                <a:latin typeface="Calibri"/>
              </a:defRPr>
            </a:pPr>
            <a:r>
              <a:t>ETL Structured JSON  (Confluence standard)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108960"/>
            <a:ext cx="5029200" cy="1463040"/>
          </a:xfrm>
          <a:prstGeom prst="roundRect">
            <a:avLst/>
          </a:prstGeom>
          <a:solidFill>
            <a:srgbClr val="1E1E30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3246120"/>
            <a:ext cx="4663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66BB6A"/>
                </a:solidFill>
                <a:latin typeface="Consolas"/>
              </a:defRPr>
            </a:pPr>
            <a:r>
              <a:t>{</a:t>
            </a:r>
          </a:p>
          <a:p>
            <a:pPr>
              <a:spcAft>
                <a:spcPts val="200"/>
              </a:spcAft>
              <a:defRPr sz="1200">
                <a:solidFill>
                  <a:srgbClr val="66BB6A"/>
                </a:solidFill>
                <a:latin typeface="Consolas"/>
              </a:defRPr>
            </a:pPr>
            <a:r>
              <a:t>  "owner": "DL-IT_Pricebot_Team@chewy.com",</a:t>
            </a:r>
          </a:p>
          <a:p>
            <a:pPr>
              <a:spcAft>
                <a:spcPts val="200"/>
              </a:spcAft>
              <a:defRPr sz="1200">
                <a:solidFill>
                  <a:srgbClr val="66BB6A"/>
                </a:solidFill>
                <a:latin typeface="Consolas"/>
              </a:defRPr>
            </a:pPr>
            <a:r>
              <a:t>  "app_name": "Mrch price Sandbox ETL",</a:t>
            </a:r>
          </a:p>
          <a:p>
            <a:pPr>
              <a:spcAft>
                <a:spcPts val="200"/>
              </a:spcAft>
              <a:defRPr sz="1200">
                <a:solidFill>
                  <a:srgbClr val="66BB6A"/>
                </a:solidFill>
                <a:latin typeface="Consolas"/>
              </a:defRPr>
            </a:pPr>
            <a:r>
              <a:t>  "filename": "mrch_price_every_15min.sql",</a:t>
            </a:r>
          </a:p>
          <a:p>
            <a:pPr>
              <a:spcAft>
                <a:spcPts val="200"/>
              </a:spcAft>
              <a:defRPr sz="1200">
                <a:solidFill>
                  <a:srgbClr val="66BB6A"/>
                </a:solidFill>
                <a:latin typeface="Consolas"/>
              </a:defRPr>
            </a:pPr>
            <a:r>
              <a:t>  "report": "Access report"</a:t>
            </a:r>
          </a:p>
          <a:p>
            <a:pPr>
              <a:spcAft>
                <a:spcPts val="200"/>
              </a:spcAft>
              <a:defRPr sz="1200">
                <a:solidFill>
                  <a:srgbClr val="66BB6A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7432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6BB6A"/>
                </a:solidFill>
                <a:latin typeface="Calibri"/>
              </a:defRPr>
            </a:pPr>
            <a:r>
              <a:rPr dirty="0"/>
              <a:t>Airflow DAGs  (structured, </a:t>
            </a:r>
            <a:r>
              <a:rPr dirty="0" err="1"/>
              <a:t>parseable</a:t>
            </a:r>
            <a:r>
              <a:rPr dirty="0"/>
              <a:t>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108960"/>
            <a:ext cx="5212080" cy="1463040"/>
          </a:xfrm>
          <a:prstGeom prst="roundRect">
            <a:avLst/>
          </a:prstGeom>
          <a:solidFill>
            <a:srgbClr val="1E1E30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324612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66BB6A"/>
                </a:solidFill>
                <a:latin typeface="Consolas"/>
              </a:defRPr>
            </a:pPr>
            <a:r>
              <a:rPr dirty="0"/>
              <a:t>{</a:t>
            </a:r>
          </a:p>
          <a:p>
            <a:pPr>
              <a:spcAft>
                <a:spcPts val="200"/>
              </a:spcAft>
              <a:defRPr sz="1200">
                <a:solidFill>
                  <a:srgbClr val="66BB6A"/>
                </a:solidFill>
                <a:latin typeface="Consolas"/>
              </a:defRPr>
            </a:pPr>
            <a:r>
              <a:rPr dirty="0"/>
              <a:t>  "</a:t>
            </a:r>
            <a:r>
              <a:rPr dirty="0" err="1"/>
              <a:t>dag</a:t>
            </a:r>
            <a:r>
              <a:rPr dirty="0"/>
              <a:t>": "</a:t>
            </a:r>
            <a:r>
              <a:rPr dirty="0" err="1"/>
              <a:t>dags</a:t>
            </a:r>
            <a:r>
              <a:rPr dirty="0"/>
              <a:t>/</a:t>
            </a:r>
            <a:r>
              <a:rPr dirty="0" err="1"/>
              <a:t>autoship</a:t>
            </a:r>
            <a:r>
              <a:rPr dirty="0"/>
              <a:t>/</a:t>
            </a:r>
            <a:r>
              <a:rPr dirty="0" err="1"/>
              <a:t>autoship.py</a:t>
            </a:r>
            <a:r>
              <a:rPr dirty="0"/>
              <a:t>",</a:t>
            </a:r>
          </a:p>
          <a:p>
            <a:pPr>
              <a:spcAft>
                <a:spcPts val="200"/>
              </a:spcAft>
              <a:defRPr sz="1200">
                <a:solidFill>
                  <a:srgbClr val="66BB6A"/>
                </a:solidFill>
                <a:latin typeface="Consolas"/>
              </a:defRPr>
            </a:pPr>
            <a:r>
              <a:rPr dirty="0"/>
              <a:t>  "task": "</a:t>
            </a:r>
            <a:r>
              <a:rPr dirty="0" err="1"/>
              <a:t>run_autoship_query</a:t>
            </a:r>
            <a:r>
              <a:rPr dirty="0"/>
              <a:t>",</a:t>
            </a:r>
          </a:p>
          <a:p>
            <a:pPr>
              <a:spcAft>
                <a:spcPts val="200"/>
              </a:spcAft>
              <a:defRPr sz="1200">
                <a:solidFill>
                  <a:srgbClr val="66BB6A"/>
                </a:solidFill>
                <a:latin typeface="Consolas"/>
              </a:defRPr>
            </a:pPr>
            <a:r>
              <a:rPr dirty="0"/>
              <a:t>  ...</a:t>
            </a:r>
          </a:p>
          <a:p>
            <a:pPr>
              <a:spcAft>
                <a:spcPts val="200"/>
              </a:spcAft>
              <a:defRPr sz="1200">
                <a:solidFill>
                  <a:srgbClr val="66BB6A"/>
                </a:solidFill>
                <a:latin typeface="Consolas"/>
              </a:defRPr>
            </a:pPr>
            <a:r>
              <a:rPr dirty="0"/>
              <a:t>}                               $485/</a:t>
            </a:r>
            <a:r>
              <a:rPr dirty="0" err="1"/>
              <a:t>mo</a:t>
            </a:r>
            <a:endParaRPr dirty="0"/>
          </a:p>
        </p:txBody>
      </p:sp>
      <p:sp>
        <p:nvSpPr>
          <p:cNvPr id="19" name="TextBox 18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08080"/>
                </a:solidFill>
                <a:latin typeface="Calibri"/>
              </a:defRPr>
            </a:pPr>
            <a:r>
              <a:t>8/10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B92156D-6AE3-1074-B636-ED58677345B4}"/>
              </a:ext>
            </a:extLst>
          </p:cNvPr>
          <p:cNvSpPr txBox="1"/>
          <p:nvPr/>
        </p:nvSpPr>
        <p:spPr>
          <a:xfrm>
            <a:off x="3984171" y="4754880"/>
            <a:ext cx="5212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6BB6A"/>
                </a:solidFill>
                <a:latin typeface="Calibri"/>
              </a:defRPr>
            </a:pPr>
            <a:r>
              <a:rPr lang="en-US" dirty="0"/>
              <a:t>Individual Users</a:t>
            </a:r>
            <a:r>
              <a:rPr dirty="0"/>
              <a:t>  (</a:t>
            </a:r>
            <a:r>
              <a:rPr lang="en-US" dirty="0" err="1"/>
              <a:t>Snowsight</a:t>
            </a:r>
            <a:r>
              <a:rPr lang="en-US" dirty="0"/>
              <a:t> UI</a:t>
            </a:r>
            <a:r>
              <a:rPr dirty="0"/>
              <a:t>)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B1864CBB-8531-9553-48F7-395591A19600}"/>
              </a:ext>
            </a:extLst>
          </p:cNvPr>
          <p:cNvSpPr/>
          <p:nvPr/>
        </p:nvSpPr>
        <p:spPr>
          <a:xfrm>
            <a:off x="3984171" y="5120640"/>
            <a:ext cx="5212080" cy="1463040"/>
          </a:xfrm>
          <a:prstGeom prst="roundRect">
            <a:avLst/>
          </a:prstGeom>
          <a:solidFill>
            <a:srgbClr val="1E1E30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4974C4C-D570-8B78-7614-D32D6161D8AB}"/>
              </a:ext>
            </a:extLst>
          </p:cNvPr>
          <p:cNvSpPr txBox="1"/>
          <p:nvPr/>
        </p:nvSpPr>
        <p:spPr>
          <a:xfrm>
            <a:off x="4167051" y="5257800"/>
            <a:ext cx="4846320" cy="13029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66BB6A"/>
                </a:solidFill>
                <a:latin typeface="Consolas"/>
              </a:defRPr>
            </a:pPr>
            <a:r>
              <a:rPr lang="en-US" sz="1200" dirty="0"/>
              <a:t>  ALTER SESSION SET QUERY_TAG== </a:t>
            </a:r>
          </a:p>
          <a:p>
            <a:pPr>
              <a:spcAft>
                <a:spcPts val="200"/>
              </a:spcAft>
              <a:defRPr sz="1200">
                <a:solidFill>
                  <a:srgbClr val="66BB6A"/>
                </a:solidFill>
                <a:latin typeface="Consolas"/>
              </a:defRPr>
            </a:pPr>
            <a:r>
              <a:rPr lang="en-US" sz="1200" dirty="0"/>
              <a:t>‘{</a:t>
            </a:r>
          </a:p>
          <a:p>
            <a:pPr>
              <a:spcAft>
                <a:spcPts val="200"/>
              </a:spcAft>
              <a:defRPr sz="1200">
                <a:solidFill>
                  <a:srgbClr val="66BB6A"/>
                </a:solidFill>
                <a:latin typeface="Consolas"/>
              </a:defRPr>
            </a:pPr>
            <a:r>
              <a:rPr lang="en-US" sz="1200" dirty="0"/>
              <a:t>	"app":"snowsight","owner":</a:t>
            </a:r>
            <a:r>
              <a:rPr lang="en-US" sz="1200" dirty="0">
                <a:hlinkClick r:id="rId2"/>
              </a:rPr>
              <a:t>rderangula@chewy.com</a:t>
            </a:r>
            <a:r>
              <a:rPr lang="en-US" sz="1200" dirty="0"/>
              <a:t>	,"</a:t>
            </a:r>
            <a:r>
              <a:rPr lang="en-US" sz="1200" dirty="0" err="1"/>
              <a:t>project":"promo-analysis</a:t>
            </a:r>
            <a:r>
              <a:rPr lang="en-US" sz="1200" dirty="0"/>
              <a:t>”</a:t>
            </a:r>
          </a:p>
          <a:p>
            <a:pPr>
              <a:spcAft>
                <a:spcPts val="200"/>
              </a:spcAft>
              <a:defRPr sz="1200">
                <a:solidFill>
                  <a:srgbClr val="66BB6A"/>
                </a:solidFill>
                <a:latin typeface="Consolas"/>
              </a:defRPr>
            </a:pPr>
            <a:r>
              <a:rPr lang="en-US" sz="1200" dirty="0"/>
              <a:t>}';</a:t>
            </a:r>
          </a:p>
          <a:p>
            <a:pPr>
              <a:spcAft>
                <a:spcPts val="200"/>
              </a:spcAft>
              <a:defRPr sz="1200">
                <a:solidFill>
                  <a:srgbClr val="66BB6A"/>
                </a:solidFill>
                <a:latin typeface="Consolas"/>
              </a:defRPr>
            </a:pP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How to Fix It: Tool-by-Tool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828800" cy="3810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08080"/>
                </a:solidFill>
                <a:latin typeface="Calibri"/>
              </a:defRPr>
            </a:pPr>
            <a:r>
              <a:t>9/10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D9C0FC5-090F-7C66-1FD7-28864D9E443F}"/>
              </a:ext>
            </a:extLst>
          </p:cNvPr>
          <p:cNvSpPr txBox="1"/>
          <p:nvPr/>
        </p:nvSpPr>
        <p:spPr>
          <a:xfrm>
            <a:off x="731519" y="1592580"/>
            <a:ext cx="102957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</a:t>
            </a:r>
            <a:r>
              <a:rPr lang="en-US" dirty="0" err="1">
                <a:solidFill>
                  <a:schemeClr val="bg1"/>
                </a:solidFill>
                <a:highlight>
                  <a:srgbClr val="000000"/>
                </a:highlight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chewyinc.atlassian.net</a:t>
            </a:r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/wiki/spaces/DBS/pages/2415073606/</a:t>
            </a:r>
            <a:r>
              <a:rPr lang="en-US" dirty="0" err="1">
                <a:solidFill>
                  <a:schemeClr val="bg1"/>
                </a:solidFill>
                <a:highlight>
                  <a:srgbClr val="000000"/>
                </a:highlight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Snowflake+Query+Tagging+Guidelines</a:t>
            </a:r>
            <a:endParaRPr lang="en-US" dirty="0">
              <a:solidFill>
                <a:schemeClr val="bg1"/>
              </a:solidFill>
              <a:highlight>
                <a:srgbClr val="000000"/>
              </a:highlight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000" b="1">
                <a:solidFill>
                  <a:srgbClr val="FFFFFF"/>
                </a:solidFill>
                <a:latin typeface="Calibri"/>
              </a:defRPr>
            </a:pPr>
            <a:r>
              <a:rPr kumimoji="0" sz="4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Your Call to Action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45920"/>
            <a:ext cx="3520440" cy="3200400"/>
          </a:xfrm>
          <a:prstGeom prst="roundRect">
            <a:avLst>
              <a:gd name="adj" fmla="val 2000"/>
            </a:avLst>
          </a:prstGeom>
          <a:solidFill>
            <a:srgbClr val="22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4800" b="1">
                <a:solidFill>
                  <a:srgbClr val="27AE60"/>
                </a:solidFill>
                <a:latin typeface="Calibri"/>
              </a:defRPr>
            </a:pPr>
            <a:r>
              <a:rPr kumimoji="0" sz="4800" b="1" i="0" u="none" strike="noStrike" kern="1200" cap="none" spc="0" normalizeH="0" baseline="0" noProof="0">
                <a:ln>
                  <a:noFill/>
                </a:ln>
                <a:solidFill>
                  <a:srgbClr val="27AE6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Tag Your Sessions Today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>
                <a:solidFill>
                  <a:srgbClr val="CCCCCC"/>
                </a:solidFill>
                <a:latin typeface="Calibri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Run ALTER SESSION SET QUERY_TAG before</a:t>
            </a:r>
            <a:b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your next query. Use JSON format:</a:t>
            </a:r>
            <a:b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{"app":"...", "team":"..."}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43400" y="1645920"/>
            <a:ext cx="3520440" cy="3200400"/>
          </a:xfrm>
          <a:prstGeom prst="roundRect">
            <a:avLst>
              <a:gd name="adj" fmla="val 2000"/>
            </a:avLst>
          </a:prstGeom>
          <a:solidFill>
            <a:srgbClr val="22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4800" b="1">
                <a:solidFill>
                  <a:srgbClr val="F39C12"/>
                </a:solidFill>
                <a:latin typeface="Calibri"/>
              </a:defRPr>
            </a:pPr>
            <a:r>
              <a:rPr kumimoji="0" sz="4800" b="1" i="0" u="none" strike="noStrike" kern="1200" cap="none" spc="0" normalizeH="0" baseline="0" noProof="0">
                <a:ln>
                  <a:noFill/>
                </a:ln>
                <a:solidFill>
                  <a:srgbClr val="F39C1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Update Your Pipelines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>
                <a:solidFill>
                  <a:srgbClr val="CCCCCC"/>
                </a:solidFill>
                <a:latin typeface="Calibri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If you own an Airflow DAG or Python script,</a:t>
            </a:r>
            <a:b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add QUERY_TAG to the connection parameters.</a:t>
            </a:r>
            <a:b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One-time change, permanent visibility.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0" y="1645920"/>
            <a:ext cx="3520440" cy="3200400"/>
          </a:xfrm>
          <a:prstGeom prst="roundRect">
            <a:avLst>
              <a:gd name="adj" fmla="val 2000"/>
            </a:avLst>
          </a:prstGeom>
          <a:solidFill>
            <a:srgbClr val="22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4800" b="1">
                <a:solidFill>
                  <a:srgbClr val="2980B9"/>
                </a:solidFill>
                <a:latin typeface="Calibri"/>
              </a:defRPr>
            </a:pPr>
            <a:r>
              <a:rPr kumimoji="0" sz="4800" b="1" i="0" u="none" strike="noStrike" kern="1200" cap="none" spc="0" normalizeH="0" baseline="0" noProof="0">
                <a:ln>
                  <a:noFill/>
                </a:ln>
                <a:solidFill>
                  <a:srgbClr val="2980B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Spread the Word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>
                <a:solidFill>
                  <a:srgbClr val="CCCCCC"/>
                </a:solidFill>
                <a:latin typeface="Calibri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Share this standard with your team.</a:t>
            </a:r>
            <a:b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Every tagged query is one fewer</a:t>
            </a:r>
            <a:b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'mystery spend' row in our reports.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303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>
                <a:solidFill>
                  <a:srgbClr val="BBBBBB"/>
                </a:solidFill>
                <a:latin typeface="Calibri"/>
              </a:defRPr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BBBBB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Remember: QUERY_TAG is a session parameter. Set it once, and every query in that session inherits it.</a:t>
            </a:r>
            <a:b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BBBBB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BBBBB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You don't need to tag each query individually.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1019</TotalTime>
  <Words>1176</Words>
  <Application>Microsoft Macintosh PowerPoint</Application>
  <PresentationFormat>Widescreen</PresentationFormat>
  <Paragraphs>231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Ravi Derangula</cp:lastModifiedBy>
  <cp:revision>6</cp:revision>
  <dcterms:created xsi:type="dcterms:W3CDTF">2013-01-27T09:14:16Z</dcterms:created>
  <dcterms:modified xsi:type="dcterms:W3CDTF">2026-03-26T17:57:41Z</dcterms:modified>
  <cp:category/>
</cp:coreProperties>
</file>